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d4c75a7-9ead-0393-0d75-41b5ed02ace1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Вопрос 1" id="{aeff112f-ba67-5172-5362-ae0fdde9bc81}">
          <p14:sldIdLst>
            <p14:sldId id="263"/>
            <p14:sldId id="264"/>
            <p14:sldId id="265"/>
          </p14:sldIdLst>
        </p14:section>
        <p14:section name="Вопрос 2" id="{f2551b05-3cf3-5fb8-48fc-78c54d37e0a5}">
          <p14:sldIdLst>
            <p14:sldId id="266"/>
            <p14:sldId id="267"/>
            <p14:sldId id="268"/>
            <p14:sldId id="269"/>
          </p14:sldIdLst>
        </p14:section>
        <p14:section name="Вопрос 3" id="{3e8eda71-3265-43ec-579b-59f628e848af}">
          <p14:sldIdLst>
            <p14:sldId id="270"/>
            <p14:sldId id="271"/>
            <p14:sldId id="272"/>
            <p14:sldId id="273"/>
          </p14:sldIdLst>
        </p14:section>
        <p14:section name="Вопрос 4" id="{6999a663-2ee1-cbe6-b610-395d814302fd}">
          <p14:sldIdLst>
            <p14:sldId id="274"/>
            <p14:sldId id="275"/>
            <p14:sldId id="276"/>
            <p14:sldId id="277"/>
          </p14:sldIdLst>
        </p14:section>
        <p14:section name="Статья о KD" id="{7abc153e-2a68-f6d0-e542-ddf44d12b253}">
          <p14:sldIdLst>
            <p14:sldId id="278"/>
            <p14:sldId id="279"/>
            <p14:sldId id="280"/>
            <p14:sldId id="281"/>
          </p14:sldIdLst>
        </p14:section>
        <p14:section name="Итог" id="{3133402b-031c-5389-031d-548daf35b91a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103120"/>
            <a:ext cx="1118585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3703320"/>
            <a:ext cx="1118585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Композиционные схемы с комплексными коэффициентами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10312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Композиционные схемы с комплексными коэффициентами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370332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Решатель ОДУ 2, 4 и 6-го порядка на опорных методах: трапеции, KD (s = 0.5), средняя точка Грэгга со сглаживанием. Итоги по вопросам исследования 1–4 с учётом ревью · 20.10.2026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Четыре ответа</a:t>
            </a:r>
            <a:endParaRPr lang="en-US" sz="2800" dirty="0"/>
          </a:p>
        </p:txBody>
      </p:sp>
      <p:sp>
        <p:nvSpPr>
          <p:cNvPr id="3" name="card 1. Порядок 2/4/6"/>
          <p:cNvSpPr/>
          <p:nvPr/>
        </p:nvSpPr>
        <p:spPr>
          <a:xfrm>
            <a:off x="502920" y="12344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435608"/>
            <a:ext cx="384048" cy="384048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6152" y="1380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Порядок 2/4/6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Трапеции и KD(0.5) дают ровно 2/4/6 со всеми схемами. Средняя точка Грэгга даёт 2/4/5: порядок 6 стандартные схемы не дают. Хойн и явная средняя точка: только 3.</a:t>
            </a:r>
            <a:endParaRPr lang="en-US" sz="1500" dirty="0"/>
          </a:p>
        </p:txBody>
      </p:sp>
      <p:sp>
        <p:nvSpPr>
          <p:cNvPr id="7" name="card 2. Где схемы не работают"/>
          <p:cNvSpPr/>
          <p:nvPr/>
        </p:nvSpPr>
        <p:spPr>
          <a:xfrm>
            <a:off x="6245352" y="123444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43560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58584" y="1380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Где схемы не работают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659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Неаналитическая f (|y|, if), f только от вещественного t (таблицы), комплекснозначные ОДУ, KD в форме Фробениуса, раскачка неразрешённой быстрой моды.</a:t>
            </a:r>
            <a:endParaRPr lang="en-US" sz="1500" dirty="0"/>
          </a:p>
        </p:txBody>
      </p:sp>
      <p:sp>
        <p:nvSpPr>
          <p:cNvPr id="11" name="card 3. A-устойчивость"/>
          <p:cNvSpPr/>
          <p:nvPr/>
        </p:nvSpPr>
        <p:spPr>
          <a:xfrm>
            <a:off x="502920" y="38404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4041648"/>
            <a:ext cx="384048" cy="38404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16152" y="39867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A-устойчивость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57200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 общем случае не сохраняется: P4C даёт A(89.5°), P6C A(87.4°). Сохраняется для трапеций при наборе γ, замкнутом относительно сопряжения, с Re γ &gt; 0 (P3C, P6SC).</a:t>
            </a:r>
            <a:endParaRPr lang="en-US" sz="1500" dirty="0"/>
          </a:p>
        </p:txBody>
      </p:sp>
      <p:sp>
        <p:nvSpPr>
          <p:cNvPr id="15" name="card 4. Коэффициенты для несимм. опоры"/>
          <p:cNvSpPr/>
          <p:nvPr/>
        </p:nvSpPr>
        <p:spPr>
          <a:xfrm>
            <a:off x="6245352" y="38404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041648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58584" y="39867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Коэффициенты для несимм. опоры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457200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Существуют. Грэгг: порядок 6 даёт схема из 5 стадий. Любая опора 2-го порядка: порядок 4 из 3 стадий, порядок 6 из 7 стадий. Проверено в 50 знаках.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Решатель: m комплексных подшагов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2588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Ψₕ = Φ(γₘh) ∘ … ∘ Φ(γ₁h)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, Σγ = 1; время стадии тоже комплексное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Для вещественной задачи после шага берётся Re(y)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Трапеции, KD(0.5):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симметричны, дефект ≈ 1e-17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Грэгг, 2 подшага: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почти симметричен, дефект ∝ h⁶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Хойн: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дефект ∝ h⁴; KD(s ≠ 0.5): порядок 1</a:t>
            </a:r>
            <a:endParaRPr lang="en-US" sz="1600" dirty="0"/>
          </a:p>
        </p:txBody>
      </p:sp>
      <p:pic>
        <p:nvPicPr>
          <p:cNvPr id="4" name="fig_symdefect.png" descr="fig_symdef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140305"/>
            <a:ext cx="6537960" cy="27602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66360" y="5852160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Дефект симметрии Φ₋ₕ∘Φₕ − id определяет, какой порядок дадут композиции.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Схемы: тройной прыжок и сопряжённые</a:t>
            </a:r>
            <a:endParaRPr lang="en-US" sz="2800" dirty="0"/>
          </a:p>
        </p:txBody>
      </p:sp>
      <p:pic>
        <p:nvPicPr>
          <p:cNvPr id="3" name="fig_coeffs.png" descr="fig_coeff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16" y="1188720"/>
            <a:ext cx="11110663" cy="40233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440680"/>
          <a:ext cx="11185855" cy="914400"/>
        </p:xfrm>
        <a:graphic>
          <a:graphicData uri="http://schemas.openxmlformats.org/drawingml/2006/table">
            <a:tbl>
              <a:tblPr/>
              <a:tblGrid>
                <a:gridCol w="1864309"/>
                <a:gridCol w="1864309"/>
                <a:gridCol w="1864309"/>
                <a:gridCol w="1864309"/>
                <a:gridCol w="1864309"/>
                <a:gridCol w="186430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ст., 1/2 ± i/(2√3)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ст., комплексный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ст., γ₂ = −1.70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ст., комплексный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ст., вещественный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ст., γ₆₋ᵢ = conj γᵢ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Системы уравнений: основной набор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2926080"/>
                <a:gridCol w="13990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задача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 и y(0)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интервал, эталон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Осциллятор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y₁′ = y₂,  y₂′ = −y₁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y(0) = (1,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10], точное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Линейная, форма Фробениуса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y₁′ = y₂,  y₂′ = −(σ² + ω²)y₁ + 2σy₂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−0.2, ω = 2;  y(0) = (1,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10], точное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Логистическое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y′ = y(1 − 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y(0) = 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5], точное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Ван дер Поль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y₁′ = y₂,  y₂′ = μ(1 − y₁²)y₂ − y₁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= 1;  y(0) = (2,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10], DOP853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Лотка–Вольтерра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y₁′ = ay₁ − by₁y₂,  y₂′ = −cy₂ + dy₁y₂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1, b = 0.5, c = 0.75, d = 0.25;  y(0) = (2,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10], DOP853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Кеплер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qᵢ′ = pᵢ,  pᵢ′ = −qᵢ / r³,  r = √(q₁² + q₂²)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= 0.5;  y(0) = (0.5, 0, 0, √3)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2π], y(T) = y(0)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Лоренц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x′ = s(y − x),  y′ = x(r − z) − y,  z′ = xy − bz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10, r = 28, b = 8/3;  (1, 1,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1], DOP853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Вынужденный Дуффинг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x″ + 0.2x′ + x + x³ = 0.5 cos 1.2t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y(0) = (1,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10], DOP853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generic3 (ревью)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y₁′ = y₂² − sin y₃ + t,  y₂′ = exp(0.3y₁) − y₃y₁,  y₃′ = cos(ty₂) + y₁y₂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t₀ = 0.2;  y = (0.3, −0.5, 0.7)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2, mpmath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Системы уравнений: задачи вопросов 2 и 3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8585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120640"/>
                <a:gridCol w="3291840"/>
                <a:gridCol w="20391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параметры, y(0), интервал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проверяет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y′ = −|y|  (сравнение: y′ = −y)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y(0) = 1, [0, 2], точно e⁻ᵗ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неаналитическая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y′ = −y + g(t), g = cos t по сплайн-таблице от Re 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y(0) = 1, [0, 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только от вещественного 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x″ + 2ζωx′ + ω²x =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= 40, ζ = 0.001; (1, 0), [0, 20]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раскачка быстрой моды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y′ = [[σ, ω], [−ω, σ]]y  и  y′ = [[0, 1], [−(σ²+ω²), 2σ]]y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−5, ω = 1.5; (1, 0), [0, 20]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 и форма записи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y′ = i·y²;  вещ. форма: u′ = −2uv, v′ = u² − v²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y(0) = 1, [0, 1], точно 1/(1 − 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комплекснозначная ОДУ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X′ = AX: a = 2σk/(1+k), d = 2σ/(1+k), b = 1, c = ad − σ² − ω²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hλ = σ + iω, k = 1 и k =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области устойчивости (для трапеций = y′ = λy)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r(z) трапеций и Гаусса-3, R(z) = Π r(γᵢz)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z ∈ [−3, 1], Im z ∈ [0, 30]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контрпример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y′ = A(y − g) + g′, A = [[σ, ω], [−ω, σ]], g = (sin t, cos 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= −0.5, ω = 26; (0.5, 1), [0, 30]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 A-устойчивость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Работающие примеры: 30–40 шагов</a:t>
            </a:r>
            <a:endParaRPr lang="en-US" sz="2800" dirty="0"/>
          </a:p>
        </p:txBody>
      </p:sp>
      <p:pic>
        <p:nvPicPr>
          <p:cNvPr id="3" name="fig_gallery.png" descr="fig_gall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99272"/>
            <a:ext cx="8138160" cy="48538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915400" y="1371600"/>
            <a:ext cx="27733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Точки: шаги композиции; линия: эталон DOP853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Ван дер Поль, KD + P6C: ошибка 1e-8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Лоренц, трапеции + P6C: 4e-10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Лотка–Вольтерра, KD + P6SC: 1e-7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Неавтономный Дуффинг на явном Грэгге работает с комплексным временем стадии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1. Порядок задаёт симметрия опоры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66928"/>
                <a:gridCol w="576072"/>
                <a:gridCol w="576072"/>
                <a:gridCol w="576072"/>
                <a:gridCol w="576072"/>
                <a:gridCol w="576072"/>
                <a:gridCol w="5760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опора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трапеции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 (s = 0.5)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Грэгг + сглаживание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Хойн / явная ср. 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12280" y="132588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Грэгг: в поле есть член h⁵F₆, Σγ⁶ ≠ 0 → порядок 5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P3C даёт 4 вместо 3: мнимый член h⁴ убирает 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P6SC без проекции на каждом шаге (Re в конце) тоже 6</a:t>
            </a:r>
            <a:endParaRPr lang="en-US" sz="1400" dirty="0"/>
          </a:p>
        </p:txBody>
      </p:sp>
      <p:pic>
        <p:nvPicPr>
          <p:cNvPr id="5" name="fig_local_hp.png" descr="fig_local_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119" y="3566160"/>
            <a:ext cx="8433457" cy="2743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1. Сходимость: Ван дер Поль, Дуффинг</a:t>
            </a:r>
            <a:endParaRPr lang="en-US" sz="2800" dirty="0"/>
          </a:p>
        </p:txBody>
      </p:sp>
      <p:pic>
        <p:nvPicPr>
          <p:cNvPr id="3" name="fig_conv_van_der_pol.png" descr="fig_conv_van_der_p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871" y="1097280"/>
            <a:ext cx="9625952" cy="2606040"/>
          </a:xfrm>
          <a:prstGeom prst="rect">
            <a:avLst/>
          </a:prstGeom>
        </p:spPr>
      </p:pic>
      <p:pic>
        <p:nvPicPr>
          <p:cNvPr id="4" name="fig_conv_forced_duffing.png" descr="fig_conv_forced_duff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71" y="3703320"/>
            <a:ext cx="9625952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1. Стоимость до ошибки 1e-8</a:t>
            </a:r>
            <a:endParaRPr lang="en-US" sz="2800" dirty="0"/>
          </a:p>
        </p:txBody>
      </p:sp>
      <p:pic>
        <p:nvPicPr>
          <p:cNvPr id="3" name="fig_cost_van_der_pol.png" descr="fig_cost_van_der_p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37583"/>
            <a:ext cx="11185855" cy="302835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25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1 210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трапеции + P6SC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3756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25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2 440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333756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KD + P6C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25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1 180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Грэгг + P6C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06840" y="44348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19 800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5349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трапеции + P4R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8521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Ван дер Поль, T = 10. Порядки в легенде взяты из высокоточной проверки: МНК по точкам двойной точности для P6C даёт артефакты.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2. Пять классов нежёстких сбоев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61872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887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Неаналитическая 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118872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|y|, if, max: комплексные схемы падают до порядка 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640080" cy="64008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176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031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 только от вещ. 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10312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таблица, сплайн, внешний код: порядок 2 без ошибок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640080" cy="640080"/>
          </a:xfrm>
          <a:prstGeom prst="ellipse">
            <a:avLst/>
          </a:prstGeom>
          <a:solidFill>
            <a:srgbClr val="E87BA4"/>
          </a:solidFill>
          <a:ln w="12700">
            <a:solidFill>
              <a:srgbClr val="E87B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0175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Неразрешённая быстрая мода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01752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P4C/P6C раскачивают её при hω ≥ 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005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319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KD и форма записи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форма Фробениуса: область ≈ [−2,0]×[−2,2]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919472"/>
            <a:ext cx="640080" cy="64008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9194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846320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Комплекснозначные ОДУ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84632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 брать нельзя: P6SC → 3, P3C → 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585216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Рабочие обходы: аналитическая запись f, вещественные P4R/P6R, вещественная форма комплексной задачи, A-устойчивые P3C/P6SC, композиции для KD.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Классы A и B: неаналитическая f</a:t>
            </a:r>
            <a:endParaRPr lang="en-US" sz="2800" dirty="0"/>
          </a:p>
        </p:txBody>
      </p:sp>
      <p:pic>
        <p:nvPicPr>
          <p:cNvPr id="3" name="fig_q2_abs.png" descr="fig_q2_a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44" y="1097280"/>
            <a:ext cx="8689607" cy="2606040"/>
          </a:xfrm>
          <a:prstGeom prst="rect">
            <a:avLst/>
          </a:prstGeom>
        </p:spPr>
      </p:pic>
      <p:pic>
        <p:nvPicPr>
          <p:cNvPr id="4" name="fig_q2_table.png" descr="fig_q2_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149" y="3703320"/>
            <a:ext cx="8685397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Классы C и D: быстрая мода, форма записи</a:t>
            </a:r>
            <a:endParaRPr lang="en-US" sz="2800" dirty="0"/>
          </a:p>
        </p:txBody>
      </p:sp>
      <p:pic>
        <p:nvPicPr>
          <p:cNvPr id="3" name="fig_q2_osc.png" descr="fig_q2_os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956" y="1097280"/>
            <a:ext cx="8011784" cy="2606040"/>
          </a:xfrm>
          <a:prstGeom prst="rect">
            <a:avLst/>
          </a:prstGeom>
        </p:spPr>
      </p:pic>
      <p:pic>
        <p:nvPicPr>
          <p:cNvPr id="4" name="fig_q2_kd_form.png" descr="fig_q2_kd_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956" y="3703320"/>
            <a:ext cx="8011784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Класс E: комплексная задача y′ = i·y²</a:t>
            </a:r>
            <a:endParaRPr lang="en-US" sz="2800" dirty="0"/>
          </a:p>
        </p:txBody>
      </p:sp>
      <p:pic>
        <p:nvPicPr>
          <p:cNvPr id="3" name="fig_q2_complex.png" descr="fig_q2_comple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7931"/>
            <a:ext cx="11185855" cy="335629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93776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Без проекции Re P6SC и P3C дают порядок 3; P4C и P6C сохраняют 4 и 6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Работает: та же задача как система (u, v) ∈ ℝ², тогда P6SC снова даёт 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3. P4C и P6C не A-устойчивы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914400"/>
                <a:gridCol w="1554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A-устойчива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ρ на iℝ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P2, P3C, P6SC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89.54°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1.018 (y ≈ 10.1)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87.36°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1.404 (y ≈ 26.3)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P4R, P6R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полюс hλ ≈ −1.17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fig_q3_trap_imag.png" descr="fig_q3_trap_im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203436"/>
            <a:ext cx="5806440" cy="31709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572000"/>
            <a:ext cx="111858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Достаточное условие (трапеции):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набор γ замкнут относительно сопряжения и все Re γ &gt; 0. Тогда полюсы справа, а на мнимой оси сомножители гасятся парами: |R(iy)| = 1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Не обобщается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на опоры с комплексными полюсами (Гаусс-3 ∘ P6SC неустойчива)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3. Области и работающий пример</a:t>
            </a:r>
            <a:endParaRPr lang="en-US" sz="2800" dirty="0"/>
          </a:p>
        </p:txBody>
      </p:sp>
      <p:pic>
        <p:nvPicPr>
          <p:cNvPr id="3" name="fig_q3_trap_regions.png" descr="fig_q3_trap_reg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73374"/>
            <a:ext cx="5120640" cy="3459892"/>
          </a:xfrm>
          <a:prstGeom prst="rect">
            <a:avLst/>
          </a:prstGeom>
        </p:spPr>
      </p:pic>
      <p:pic>
        <p:nvPicPr>
          <p:cNvPr id="4" name="fig_q3_demo.png" descr="fig_q3_dem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93665"/>
            <a:ext cx="5943600" cy="193331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60720" y="402336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Собств. числа −0.5 ± 26i, медленное решение sin 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 = 1: P6C разваливается (горб ρ = 1.4), P6SC держит решение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 = 0.5: работают все схемы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3. Контрпример: Гаусс-3 ∘ P6SC</a:t>
            </a:r>
            <a:endParaRPr lang="en-US" sz="2800" dirty="0"/>
          </a:p>
        </p:txBody>
      </p:sp>
      <p:pic>
        <p:nvPicPr>
          <p:cNvPr id="3" name="fig_q3_gauss.png" descr="fig_q3_gau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555" y="1097280"/>
            <a:ext cx="11056585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4864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Полюс R(z) в −0.41 + 20.04i, |R| ≈ 29 рядом с ним, хотя |R(iy)| ≡ 1. Для опор с комплексными полюсами нужно |arg γ| + |arg w_p| &lt; 90°.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KD и Грэгг: области расширяются</a:t>
            </a:r>
            <a:endParaRPr lang="en-US" sz="2800" dirty="0"/>
          </a:p>
        </p:txBody>
      </p:sp>
      <p:pic>
        <p:nvPicPr>
          <p:cNvPr id="3" name="fig_q3_kd_regions.png" descr="fig_q3_kd_reg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3829"/>
            <a:ext cx="5486400" cy="3867462"/>
          </a:xfrm>
          <a:prstGeom prst="rect">
            <a:avLst/>
          </a:prstGeom>
        </p:spPr>
      </p:pic>
      <p:pic>
        <p:nvPicPr>
          <p:cNvPr id="4" name="fig_q3_mid_regions.png" descr="fig_q3_mid_reg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03829"/>
            <a:ext cx="5486400" cy="386746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5669280"/>
            <a:ext cx="11185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Граница по вещественной оси. KD (k = 0): P2 −2, P4C −5.2, P6SC −7.9, P6C −15, P4R −0.56. Грэгг: P2 −3.1, P4C −8, P6C −22, P6R −1.4. Вещественные схемы область дробят.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4. Найденные схемы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822960"/>
                <a:gridCol w="868680"/>
                <a:gridCol w="777240"/>
                <a:gridCol w="1051560"/>
                <a:gridCol w="914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схема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опора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порядок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стадий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проекция 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проверка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midpoint_p6_gen_Re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Грэгг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5.99–6.01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midpoint_p6_pal_Re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Грэгг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5.99–6.01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midpoint_p6_pal_C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Грэгг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5.99–6.00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general_p4_gen_Re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3.99–4.00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general_p4_pal_Re (Re γ₂ =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3.99–4.01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general_p6_gen_Re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5.99–6.00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general_p6_pal_Re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любая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5.99–6.00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26680" y="1325880"/>
            <a:ext cx="3977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Опора как exp(hF₁ + Σ hᵏFₖ): для Грэгга K = {3,5,6,7}, для общей K = {3,…,7}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Многостартовый Левенберг–Марквардт по условиям порядка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Ревью: точные условия через слова свободной алгебры, уточнение в 50 знаках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Минимальность стадий не доказана, 1500 стартов меньше не нашли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4. Порядок 6 на Грэгге и Хойне</a:t>
            </a:r>
            <a:endParaRPr lang="en-US" sz="2800" dirty="0"/>
          </a:p>
        </p:txBody>
      </p:sp>
      <p:pic>
        <p:nvPicPr>
          <p:cNvPr id="3" name="fig_q4_local_hp.png" descr="fig_q4_local_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8562" y="1097280"/>
            <a:ext cx="8714572" cy="2834640"/>
          </a:xfrm>
          <a:prstGeom prst="rect">
            <a:avLst/>
          </a:prstGeom>
        </p:spPr>
      </p:pic>
      <p:pic>
        <p:nvPicPr>
          <p:cNvPr id="4" name="fig_q4_conv_mid_forced_duffing.png" descr="fig_q4_conv_mid_forced_duff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55" y="3977640"/>
            <a:ext cx="4825731" cy="2377440"/>
          </a:xfrm>
          <a:prstGeom prst="rect">
            <a:avLst/>
          </a:prstGeom>
        </p:spPr>
      </p:pic>
      <p:pic>
        <p:nvPicPr>
          <p:cNvPr id="5" name="fig_q4_conv_heun_van_der_pol.png" descr="fig_q4_conv_heun_van_der_p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872" y="3977640"/>
            <a:ext cx="4778497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Вопрос 4. Пример и стоимость</a:t>
            </a:r>
            <a:endParaRPr lang="en-US" sz="2800" dirty="0"/>
          </a:p>
        </p:txBody>
      </p:sp>
      <p:pic>
        <p:nvPicPr>
          <p:cNvPr id="3" name="fig_q4_solution.png" descr="fig_q4_sol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11079"/>
            <a:ext cx="11185855" cy="353856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4846320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Дуффинг на Грэгге, midpoint_p6_gen_Re, h = 0.4: ошибка 7e-7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Хойн, ошибка 1e-8 на Ван дер Поле: 1 100 вызовов f против 9 700 у P6C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На Грэгге при 1e-6…1e-10 P6C почти не уступает: малая константа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Нейросеть и исправления после ревью</a:t>
            </a:r>
            <a:endParaRPr lang="en-US" sz="2800" dirty="0"/>
          </a:p>
        </p:txBody>
      </p:sp>
      <p:sp>
        <p:nvSpPr>
          <p:cNvPr id="3" name="card Нейросеть не понадобилась"/>
          <p:cNvSpPr/>
          <p:nvPr/>
        </p:nvSpPr>
        <p:spPr>
          <a:xfrm>
            <a:off x="502920" y="123444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" y="1435608"/>
            <a:ext cx="384048" cy="384048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6152" y="1380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Нейросеть не понадобилась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4983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Условия порядка полиномиальны, многостартовый поиск находит решения, а проверка точная (невязка 1e-50 после уточнения).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Разумные роли для нейросети: генератор начальных приближений при больших m; суррогат для оптимизации семейства решений по области устойчивости или константе ошибки.</a:t>
            </a:r>
            <a:endParaRPr lang="en-US" sz="1700" dirty="0"/>
          </a:p>
        </p:txBody>
      </p:sp>
      <p:sp>
        <p:nvSpPr>
          <p:cNvPr id="7" name="card Что исправлено"/>
          <p:cNvSpPr/>
          <p:nvPr/>
        </p:nvSpPr>
        <p:spPr>
          <a:xfrm>
            <a:off x="6245352" y="123444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F3F2FB"/>
          </a:solidFill>
          <a:ln w="12700">
            <a:solidFill>
              <a:srgbClr val="F3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435608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58584" y="1380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исправлено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965960"/>
            <a:ext cx="4983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Условие A-устойчивости верно только при вещественных полюсах опоры.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P6SC без проекции даёт 6, а 3 только на комплексных ОДУ.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У general_p4_pal_Re Re γ₂ = 0, а не &gt; 0.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Порядки подтверждены в высокой точности; медиана прятала артефакты.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Классу C нужна формулировка «колебательно-жёсткий режим».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Статья о KD: области устойчивости повторены</a:t>
            </a:r>
            <a:endParaRPr lang="en-US" sz="2800" dirty="0"/>
          </a:p>
        </p:txBody>
      </p:sp>
      <p:pic>
        <p:nvPicPr>
          <p:cNvPr id="3" name="kd/fig02_compare.png" descr="kd/fig02_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5512"/>
            <a:ext cx="7223760" cy="351825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01000" y="1188720"/>
            <a:ext cx="3703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Galchenko et al., Mathematics 2026: рис. 1–9 повторены, совпадают по форме, границам и оттенкам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CD, s = 0.5: при k = 0 область ≈ [−2, 0]×[−2, 2], при k = 1 полоса |Im| ≤ 2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Совпадает с нашей функцией устойчивости KD (вопросы 2–3)</a:t>
            </a:r>
            <a:endParaRPr lang="en-US" sz="1400" dirty="0"/>
          </a:p>
        </p:txBody>
      </p:sp>
      <p:pic>
        <p:nvPicPr>
          <p:cNvPr id="5" name="kd/fig01_compare.png" descr="kd/fig01_comp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812128"/>
            <a:ext cx="7223760" cy="14399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001000" y="493776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Слева: статья | наш расчёт. Сверху рис. 2 (CD при разных k), снизу рис. 1 (явный Эйлер, контроль).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Статья о KD: области при разных s</a:t>
            </a:r>
            <a:endParaRPr lang="en-US" sz="2800" dirty="0"/>
          </a:p>
        </p:txBody>
      </p:sp>
      <p:pic>
        <p:nvPicPr>
          <p:cNvPr id="3" name="kd/fig03_compare.png" descr="kd/fig03_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00598"/>
            <a:ext cx="5532120" cy="2685203"/>
          </a:xfrm>
          <a:prstGeom prst="rect">
            <a:avLst/>
          </a:prstGeom>
        </p:spPr>
      </p:pic>
      <p:pic>
        <p:nvPicPr>
          <p:cNvPr id="4" name="kd/fig05_compare.png" descr="kd/fig05_comp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01511"/>
            <a:ext cx="5532120" cy="268337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617720"/>
            <a:ext cx="111858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 = 1 (слева): при s &lt; 0.5 метод пересглаживает, есть области в правой полуплоскости; при s &gt; 0.5 область сжимается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k = 0 (справа): все области ограничены; наибольшая при s = 0 (до Re ≈ −5), при s = 0.5 около [−2, 0]×[−2, 2]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Статья о KD: движение корней</a:t>
            </a:r>
            <a:endParaRPr lang="en-US" sz="2800" dirty="0"/>
          </a:p>
        </p:txBody>
      </p:sp>
      <p:pic>
        <p:nvPicPr>
          <p:cNvPr id="3" name="kd/fig06_compare.png" descr="kd/fig06_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7267"/>
            <a:ext cx="5532120" cy="1817385"/>
          </a:xfrm>
          <a:prstGeom prst="rect">
            <a:avLst/>
          </a:prstGeom>
        </p:spPr>
      </p:pic>
      <p:pic>
        <p:nvPicPr>
          <p:cNvPr id="4" name="kd/fig08_compare.png" descr="kd/fig08_comp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60902"/>
            <a:ext cx="5532120" cy="1810115"/>
          </a:xfrm>
          <a:prstGeom prst="rect">
            <a:avLst/>
          </a:prstGeom>
        </p:spPr>
      </p:pic>
      <p:pic>
        <p:nvPicPr>
          <p:cNvPr id="5" name="kd/fig09_compare.png" descr="kd/fig09_comp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942" y="3017520"/>
            <a:ext cx="9083812" cy="21945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02920" y="534924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Собств. числа F = (R − I)/h при h ∈ [1e-3, 1e-1], цвет: s от 0 до 1; при s = 0.5 корни почти не сдвигаются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Сверху k = 1 и k = 0 (рис. 6 и 8), снизу крупный масштаб (рис. 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Статья о KD: три расхождения кода с рисунками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585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3108960"/>
                <a:gridCol w="38679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 приложения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рисунки статьи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сделано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9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 ω = 0 рисуется только lams(2): одна ветвь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дуги симметричны относительно оси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рисуются оба собственных числа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тестовые точки рис. 9 не перечислены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видны по красным кругам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сняты с рисунка; точки на оси со сдвигом ±1e-3 по 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фон: Re ∈ [−4.1, 0.1], Im ∈ [−1.75, 1.65]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фон покрывает |Im| ≥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3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фон считается на окне рисунка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2062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Скрипт и сравнения: kd_article_repro/ (kd_repro.py, compare/). Трёхмерные рис. 10–14 не строились.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10312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Итог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3703320"/>
            <a:ext cx="111858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Трапеции и KD дают 2/4/6, Грэгг 2/4/5. Порядок 6 на Грэгге возможен со специальными коэффициентами (5 стадий). A-устойчивость сохраняют P3C и P6SC на трапециях. Нежёсткие сбои связаны с неаналитичностью f и с комплексными задачами. Отчёт: report.pdf, код графиков: report/src.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lex Composition">
  <a:themeElements>
    <a:clrScheme name="Complex Composition">
      <a:dk1>
        <a:srgbClr val="141327"/>
      </a:dk1>
      <a:lt1>
        <a:srgbClr val="FFFFFF"/>
      </a:lt1>
      <a:dk2>
        <a:srgbClr val="2B2950"/>
      </a:dk2>
      <a:lt2>
        <a:srgbClr val="F3F2FB"/>
      </a:lt2>
      <a:accent1>
        <a:srgbClr val="6250D6"/>
      </a:accent1>
      <a:accent2>
        <a:srgbClr val="EB6834"/>
      </a:accent2>
      <a:accent3>
        <a:srgbClr val="1BAF7A"/>
      </a:accent3>
      <a:accent4>
        <a:srgbClr val="2A78D6"/>
      </a:accent4>
      <a:accent5>
        <a:srgbClr val="E87BA4"/>
      </a:accent5>
      <a:accent6>
        <a:srgbClr val="EDA100"/>
      </a:accent6>
      <a:hlink>
        <a:srgbClr val="2A78D6"/>
      </a:hlink>
      <a:folHlink>
        <a:srgbClr val="6250D6"/>
      </a:folHlink>
    </a:clrScheme>
    <a:fontScheme name="Complex Composi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Композиционные схемы с комплексными коэффициентами</dc:title>
  <dc:subject>PptxGenJS Presentation</dc:subject>
  <dc:creator>Semyon</dc:creator>
  <cp:lastModifiedBy>Semyon</cp:lastModifiedBy>
  <cp:revision>1</cp:revision>
  <dcterms:created xsi:type="dcterms:W3CDTF">2026-10-20T22:25:07Z</dcterms:created>
  <dcterms:modified xsi:type="dcterms:W3CDTF">2026-10-20T22:25:07Z</dcterms:modified>
</cp:coreProperties>
</file>